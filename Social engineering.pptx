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ar-EG"/>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66" d="100"/>
          <a:sy n="66" d="100"/>
        </p:scale>
        <p:origin x="-636"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EG"/>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D98FC087-3771-4DA9-8A78-AD9EF01658A6}" type="datetimeFigureOut">
              <a:rPr lang="ar-EG" smtClean="0"/>
              <a:t>03/06/1443</a:t>
            </a:fld>
            <a:endParaRPr lang="ar-E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E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EG"/>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D5B64E27-D60F-4E22-A517-C99BE5D2FEB9}" type="slidenum">
              <a:rPr lang="ar-EG" smtClean="0"/>
              <a:t>‹#›</a:t>
            </a:fld>
            <a:endParaRPr lang="ar-EG"/>
          </a:p>
        </p:txBody>
      </p:sp>
    </p:spTree>
    <p:extLst>
      <p:ext uri="{BB962C8B-B14F-4D97-AF65-F5344CB8AC3E}">
        <p14:creationId xmlns:p14="http://schemas.microsoft.com/office/powerpoint/2010/main" val="234124159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7" y="3550127"/>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5" y="3550127"/>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0F00E319-FAE4-4F1A-8AEE-864AEC2ABA77}" type="datetime8">
              <a:rPr lang="ar-EG" smtClean="0"/>
              <a:t>06 كانون الثاني، 22</a:t>
            </a:fld>
            <a:endParaRPr lang="ar-EG"/>
          </a:p>
        </p:txBody>
      </p:sp>
      <p:sp>
        <p:nvSpPr>
          <p:cNvPr id="16" name="Slide Number Placeholder 15"/>
          <p:cNvSpPr>
            <a:spLocks noGrp="1"/>
          </p:cNvSpPr>
          <p:nvPr>
            <p:ph type="sldNum" sz="quarter" idx="11"/>
          </p:nvPr>
        </p:nvSpPr>
        <p:spPr/>
        <p:txBody>
          <a:bodyPr/>
          <a:lstStyle/>
          <a:p>
            <a:fld id="{72545B5C-C241-49B7-B6BA-3336326B0E5F}" type="slidenum">
              <a:rPr lang="ar-EG" smtClean="0"/>
              <a:t>‹#›</a:t>
            </a:fld>
            <a:endParaRPr lang="ar-EG"/>
          </a:p>
        </p:txBody>
      </p:sp>
      <p:sp>
        <p:nvSpPr>
          <p:cNvPr id="17" name="Footer Placeholder 16"/>
          <p:cNvSpPr>
            <a:spLocks noGrp="1"/>
          </p:cNvSpPr>
          <p:nvPr>
            <p:ph type="ftr" sz="quarter" idx="12"/>
          </p:nvPr>
        </p:nvSpPr>
        <p:spPr/>
        <p:txBody>
          <a:bodyPr/>
          <a:lstStyle/>
          <a:p>
            <a:endParaRPr lang="ar-E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52780AAA-D76C-45E5-AE9E-C49925C53313}" type="datetime8">
              <a:rPr lang="ar-EG" smtClean="0"/>
              <a:t>06 كانون الثاني، 22</a:t>
            </a:fld>
            <a:endParaRPr lang="ar-EG"/>
          </a:p>
        </p:txBody>
      </p:sp>
      <p:sp>
        <p:nvSpPr>
          <p:cNvPr id="15" name="Slide Number Placeholder 14"/>
          <p:cNvSpPr>
            <a:spLocks noGrp="1"/>
          </p:cNvSpPr>
          <p:nvPr>
            <p:ph type="sldNum" sz="quarter" idx="15"/>
          </p:nvPr>
        </p:nvSpPr>
        <p:spPr/>
        <p:txBody>
          <a:bodyPr/>
          <a:lstStyle>
            <a:lvl1pPr algn="ctr">
              <a:defRPr/>
            </a:lvl1pPr>
          </a:lstStyle>
          <a:p>
            <a:fld id="{72545B5C-C241-49B7-B6BA-3336326B0E5F}" type="slidenum">
              <a:rPr lang="ar-EG" smtClean="0"/>
              <a:t>‹#›</a:t>
            </a:fld>
            <a:endParaRPr lang="ar-EG"/>
          </a:p>
        </p:txBody>
      </p:sp>
      <p:sp>
        <p:nvSpPr>
          <p:cNvPr id="16" name="Footer Placeholder 15"/>
          <p:cNvSpPr>
            <a:spLocks noGrp="1"/>
          </p:cNvSpPr>
          <p:nvPr>
            <p:ph type="ftr" sz="quarter" idx="16"/>
          </p:nvPr>
        </p:nvSpPr>
        <p:spPr/>
        <p:txBody>
          <a:bodyPr/>
          <a:lstStyle/>
          <a:p>
            <a:endParaRPr lang="ar-EG"/>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0D21451-D0E2-4A9E-80CE-37856FC6E7CE}" type="datetime8">
              <a:rPr lang="ar-EG" smtClean="0"/>
              <a:t>06 كانون الثاني، 22</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2545B5C-C241-49B7-B6BA-3336326B0E5F}" type="slidenum">
              <a:rPr lang="ar-EG" smtClean="0"/>
              <a:t>‹#›</a:t>
            </a:fld>
            <a:endParaRPr lang="ar-EG"/>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5"/>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4916993"/>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93E4622-E0E3-4C4F-A6F4-CD63D7B4EB83}" type="datetime8">
              <a:rPr lang="ar-EG" smtClean="0"/>
              <a:t>06 كانون الثاني، 22</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72545B5C-C241-49B7-B6BA-3336326B0E5F}" type="slidenum">
              <a:rPr lang="ar-EG" smtClean="0"/>
              <a:t>‹#›</a:t>
            </a:fld>
            <a:endParaRPr lang="ar-EG"/>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72545B5C-C241-49B7-B6BA-3336326B0E5F}" type="slidenum">
              <a:rPr lang="ar-EG" smtClean="0"/>
              <a:t>‹#›</a:t>
            </a:fld>
            <a:endParaRPr lang="ar-EG"/>
          </a:p>
        </p:txBody>
      </p:sp>
      <p:sp>
        <p:nvSpPr>
          <p:cNvPr id="8" name="Footer Placeholder 7"/>
          <p:cNvSpPr>
            <a:spLocks noGrp="1"/>
          </p:cNvSpPr>
          <p:nvPr>
            <p:ph type="ftr" sz="quarter" idx="11"/>
          </p:nvPr>
        </p:nvSpPr>
        <p:spPr/>
        <p:txBody>
          <a:bodyPr/>
          <a:lstStyle/>
          <a:p>
            <a:endParaRPr lang="ar-EG"/>
          </a:p>
        </p:txBody>
      </p:sp>
      <p:sp>
        <p:nvSpPr>
          <p:cNvPr id="7" name="Date Placeholder 6"/>
          <p:cNvSpPr>
            <a:spLocks noGrp="1"/>
          </p:cNvSpPr>
          <p:nvPr>
            <p:ph type="dt" sz="half" idx="10"/>
          </p:nvPr>
        </p:nvSpPr>
        <p:spPr/>
        <p:txBody>
          <a:bodyPr/>
          <a:lstStyle/>
          <a:p>
            <a:fld id="{1478789E-FB6B-40DE-A02C-C7DCB11CE94C}" type="datetime8">
              <a:rPr lang="ar-EG" smtClean="0"/>
              <a:t>06 كانون الثاني، 22</a:t>
            </a:fld>
            <a:endParaRPr lang="ar-EG"/>
          </a:p>
        </p:txBody>
      </p:sp>
      <p:sp>
        <p:nvSpPr>
          <p:cNvPr id="3" name="Text Placeholder 2"/>
          <p:cNvSpPr>
            <a:spLocks noGrp="1"/>
          </p:cNvSpPr>
          <p:nvPr>
            <p:ph type="body" idx="1"/>
          </p:nvPr>
        </p:nvSpPr>
        <p:spPr>
          <a:xfrm>
            <a:off x="457201"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1"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2180220"/>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20"/>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4B676E6-EBD6-4685-A99D-55E3711F6C99}" type="datetime8">
              <a:rPr lang="ar-EG" smtClean="0"/>
              <a:t>06 كانون الثاني، 22</a:t>
            </a:fld>
            <a:endParaRPr lang="ar-EG"/>
          </a:p>
        </p:txBody>
      </p:sp>
      <p:sp>
        <p:nvSpPr>
          <p:cNvPr id="4" name="Footer Placeholder 3"/>
          <p:cNvSpPr>
            <a:spLocks noGrp="1"/>
          </p:cNvSpPr>
          <p:nvPr>
            <p:ph type="ftr" sz="quarter" idx="11"/>
          </p:nvPr>
        </p:nvSpPr>
        <p:spPr/>
        <p:txBody>
          <a:bodyPr/>
          <a:lstStyle/>
          <a:p>
            <a:endParaRPr lang="ar-EG"/>
          </a:p>
        </p:txBody>
      </p:sp>
      <p:sp>
        <p:nvSpPr>
          <p:cNvPr id="5" name="Slide Number Placeholder 4"/>
          <p:cNvSpPr>
            <a:spLocks noGrp="1"/>
          </p:cNvSpPr>
          <p:nvPr>
            <p:ph type="sldNum" sz="quarter" idx="12"/>
          </p:nvPr>
        </p:nvSpPr>
        <p:spPr/>
        <p:txBody>
          <a:bodyPr/>
          <a:lstStyle/>
          <a:p>
            <a:fld id="{72545B5C-C241-49B7-B6BA-3336326B0E5F}" type="slidenum">
              <a:rPr lang="ar-EG" smtClean="0"/>
              <a:t>‹#›</a:t>
            </a:fld>
            <a:endParaRPr lang="ar-EG"/>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FBADD7-63B0-44B7-A16D-A8EB12BFDA50}" type="datetime8">
              <a:rPr lang="ar-EG" smtClean="0"/>
              <a:t>06 كانون الثاني، 22</a:t>
            </a:fld>
            <a:endParaRPr lang="ar-EG"/>
          </a:p>
        </p:txBody>
      </p:sp>
      <p:sp>
        <p:nvSpPr>
          <p:cNvPr id="3" name="Footer Placeholder 2"/>
          <p:cNvSpPr>
            <a:spLocks noGrp="1"/>
          </p:cNvSpPr>
          <p:nvPr>
            <p:ph type="ftr" sz="quarter" idx="11"/>
          </p:nvPr>
        </p:nvSpPr>
        <p:spPr/>
        <p:txBody>
          <a:bodyPr/>
          <a:lstStyle/>
          <a:p>
            <a:endParaRPr lang="ar-EG"/>
          </a:p>
        </p:txBody>
      </p:sp>
      <p:sp>
        <p:nvSpPr>
          <p:cNvPr id="4" name="Slide Number Placeholder 3"/>
          <p:cNvSpPr>
            <a:spLocks noGrp="1"/>
          </p:cNvSpPr>
          <p:nvPr>
            <p:ph type="sldNum" sz="quarter" idx="12"/>
          </p:nvPr>
        </p:nvSpPr>
        <p:spPr/>
        <p:txBody>
          <a:bodyPr/>
          <a:lstStyle/>
          <a:p>
            <a:fld id="{72545B5C-C241-49B7-B6BA-3336326B0E5F}" type="slidenum">
              <a:rPr lang="ar-EG" smtClean="0"/>
              <a:t>‹#›</a:t>
            </a:fld>
            <a:endParaRPr lang="ar-E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65D0A92D-7D81-4DA2-8F4C-641905DD24E7}" type="datetime8">
              <a:rPr lang="ar-EG" smtClean="0"/>
              <a:t>06 كانون الثاني، 22</a:t>
            </a:fld>
            <a:endParaRPr lang="ar-EG"/>
          </a:p>
        </p:txBody>
      </p:sp>
      <p:sp>
        <p:nvSpPr>
          <p:cNvPr id="9" name="Slide Number Placeholder 8"/>
          <p:cNvSpPr>
            <a:spLocks noGrp="1"/>
          </p:cNvSpPr>
          <p:nvPr>
            <p:ph type="sldNum" sz="quarter" idx="15"/>
          </p:nvPr>
        </p:nvSpPr>
        <p:spPr/>
        <p:txBody>
          <a:bodyPr/>
          <a:lstStyle/>
          <a:p>
            <a:fld id="{72545B5C-C241-49B7-B6BA-3336326B0E5F}" type="slidenum">
              <a:rPr lang="ar-EG" smtClean="0"/>
              <a:t>‹#›</a:t>
            </a:fld>
            <a:endParaRPr lang="ar-EG"/>
          </a:p>
        </p:txBody>
      </p:sp>
      <p:sp>
        <p:nvSpPr>
          <p:cNvPr id="10" name="Footer Placeholder 9"/>
          <p:cNvSpPr>
            <a:spLocks noGrp="1"/>
          </p:cNvSpPr>
          <p:nvPr>
            <p:ph type="ftr" sz="quarter" idx="16"/>
          </p:nvPr>
        </p:nvSpPr>
        <p:spPr/>
        <p:txBody>
          <a:bodyPr/>
          <a:lstStyle/>
          <a:p>
            <a:endParaRPr lang="ar-E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2168F501-9BDE-424C-87FB-6DAF9E01DE9B}" type="datetime8">
              <a:rPr lang="ar-EG" smtClean="0"/>
              <a:t>06 كانون الثاني، 22</a:t>
            </a:fld>
            <a:endParaRPr lang="ar-EG"/>
          </a:p>
        </p:txBody>
      </p:sp>
      <p:sp>
        <p:nvSpPr>
          <p:cNvPr id="9" name="Slide Number Placeholder 8"/>
          <p:cNvSpPr>
            <a:spLocks noGrp="1"/>
          </p:cNvSpPr>
          <p:nvPr>
            <p:ph type="sldNum" sz="quarter" idx="11"/>
          </p:nvPr>
        </p:nvSpPr>
        <p:spPr/>
        <p:txBody>
          <a:bodyPr/>
          <a:lstStyle/>
          <a:p>
            <a:fld id="{72545B5C-C241-49B7-B6BA-3336326B0E5F}" type="slidenum">
              <a:rPr lang="ar-EG" smtClean="0"/>
              <a:t>‹#›</a:t>
            </a:fld>
            <a:endParaRPr lang="ar-EG"/>
          </a:p>
        </p:txBody>
      </p:sp>
      <p:sp>
        <p:nvSpPr>
          <p:cNvPr id="10" name="Footer Placeholder 9"/>
          <p:cNvSpPr>
            <a:spLocks noGrp="1"/>
          </p:cNvSpPr>
          <p:nvPr>
            <p:ph type="ftr" sz="quarter" idx="12"/>
          </p:nvPr>
        </p:nvSpPr>
        <p:spPr/>
        <p:txBody>
          <a:bodyPr/>
          <a:lstStyle/>
          <a:p>
            <a:endParaRPr lang="ar-E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1B64570-D984-4610-B72E-778430B8E6A3}" type="datetime8">
              <a:rPr lang="ar-EG" smtClean="0"/>
              <a:t>06 كانون الثاني، 22</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2545B5C-C241-49B7-B6BA-3336326B0E5F}" type="slidenum">
              <a:rPr lang="ar-EG" smtClean="0"/>
              <a:t>‹#›</a:t>
            </a:fld>
            <a:endParaRPr lang="ar-E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ADAE103-3744-4097-A864-013E5740FACE}" type="datetime8">
              <a:rPr lang="ar-EG" smtClean="0"/>
              <a:t>06 كانون الثاني، 22</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72545B5C-C241-49B7-B6BA-3336326B0E5F}" type="slidenum">
              <a:rPr lang="ar-EG" smtClean="0"/>
              <a:t>‹#›</a:t>
            </a:fld>
            <a:endParaRPr lang="ar-E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1"/>
            <a:ext cx="8229600" cy="46783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01C9FA32-4907-4522-A166-3FBB3E837FFD}" type="datetime8">
              <a:rPr lang="ar-EG" smtClean="0"/>
              <a:t>06 كانون الثاني، 22</a:t>
            </a:fld>
            <a:endParaRPr lang="ar-EG"/>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ar-EG"/>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72545B5C-C241-49B7-B6BA-3336326B0E5F}" type="slidenum">
              <a:rPr lang="ar-EG" smtClean="0"/>
              <a:t>‹#›</a:t>
            </a:fld>
            <a:endParaRPr lang="ar-EG"/>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1"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r" rtl="1"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r" rtl="1"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r" rtl="1"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r" rtl="1"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r" rtl="1"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r" rtl="1"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r" rtl="1"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r" rtl="1"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r" rtl="1"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632" y="548680"/>
            <a:ext cx="6347048" cy="750912"/>
          </a:xfrm>
        </p:spPr>
        <p:txBody>
          <a:bodyPr>
            <a:noAutofit/>
          </a:bodyPr>
          <a:lstStyle/>
          <a:p>
            <a:pPr algn="ctr"/>
            <a:r>
              <a:rPr lang="en-US" sz="4400" b="1" i="1" dirty="0" smtClean="0"/>
              <a:t>Social engineering</a:t>
            </a:r>
            <a:endParaRPr lang="ar-EG" sz="4400" b="1" i="1" dirty="0"/>
          </a:p>
        </p:txBody>
      </p:sp>
      <p:sp>
        <p:nvSpPr>
          <p:cNvPr id="3" name="Subtitle 2"/>
          <p:cNvSpPr>
            <a:spLocks noGrp="1"/>
          </p:cNvSpPr>
          <p:nvPr>
            <p:ph type="subTitle" idx="4294967295"/>
          </p:nvPr>
        </p:nvSpPr>
        <p:spPr>
          <a:xfrm>
            <a:off x="0" y="2060575"/>
            <a:ext cx="6400800" cy="3505200"/>
          </a:xfrm>
        </p:spPr>
        <p:txBody>
          <a:bodyPr>
            <a:normAutofit/>
          </a:bodyPr>
          <a:lstStyle/>
          <a:p>
            <a:pPr marL="0" indent="0" algn="l">
              <a:buNone/>
            </a:pPr>
            <a:r>
              <a:rPr lang="en-US" sz="3200" b="1" i="1" dirty="0" smtClean="0"/>
              <a:t>By</a:t>
            </a:r>
            <a:r>
              <a:rPr lang="en-US" sz="3200" dirty="0" smtClean="0"/>
              <a:t>:</a:t>
            </a:r>
          </a:p>
          <a:p>
            <a:r>
              <a:rPr lang="ar-EG" sz="3200" dirty="0" smtClean="0"/>
              <a:t>يوسف محمد عباس عبدالوهاب </a:t>
            </a:r>
          </a:p>
          <a:p>
            <a:r>
              <a:rPr lang="ar-EG" sz="3200" dirty="0" smtClean="0"/>
              <a:t>محمد مفاز محمد طلعت</a:t>
            </a:r>
          </a:p>
          <a:p>
            <a:r>
              <a:rPr lang="ar-EG" sz="3200" dirty="0" smtClean="0"/>
              <a:t>عبده رفعت عبده</a:t>
            </a:r>
          </a:p>
          <a:p>
            <a:r>
              <a:rPr lang="ar-EG" sz="3200" dirty="0" smtClean="0"/>
              <a:t>يسري عصام ايوب </a:t>
            </a:r>
          </a:p>
          <a:p>
            <a:r>
              <a:rPr lang="ar-EG" sz="3200" dirty="0" smtClean="0"/>
              <a:t>يوسف محمد مرسي</a:t>
            </a:r>
            <a:endParaRPr lang="en-US" sz="3200" dirty="0" smtClean="0"/>
          </a:p>
        </p:txBody>
      </p:sp>
      <p:sp>
        <p:nvSpPr>
          <p:cNvPr id="5" name="Slide Number Placeholder 4"/>
          <p:cNvSpPr>
            <a:spLocks noGrp="1"/>
          </p:cNvSpPr>
          <p:nvPr>
            <p:ph type="sldNum" sz="quarter" idx="12"/>
          </p:nvPr>
        </p:nvSpPr>
        <p:spPr/>
        <p:txBody>
          <a:bodyPr/>
          <a:lstStyle/>
          <a:p>
            <a:fld id="{72545B5C-C241-49B7-B6BA-3336326B0E5F}" type="slidenum">
              <a:rPr lang="ar-EG" smtClean="0"/>
              <a:t>1</a:t>
            </a:fld>
            <a:endParaRPr lang="ar-EG"/>
          </a:p>
        </p:txBody>
      </p:sp>
    </p:spTree>
    <p:extLst>
      <p:ext uri="{BB962C8B-B14F-4D97-AF65-F5344CB8AC3E}">
        <p14:creationId xmlns:p14="http://schemas.microsoft.com/office/powerpoint/2010/main" val="3659156445"/>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916832"/>
            <a:ext cx="8229600" cy="3201144"/>
          </a:xfrm>
        </p:spPr>
        <p:txBody>
          <a:bodyPr>
            <a:noAutofit/>
          </a:bodyPr>
          <a:lstStyle/>
          <a:p>
            <a:pPr marL="0" indent="0" algn="l">
              <a:buNone/>
            </a:pPr>
            <a:r>
              <a:rPr lang="en-US" sz="2800" dirty="0" smtClean="0"/>
              <a:t>Social engineering is the term used for malicious activities accomplished made through human interactions.</a:t>
            </a:r>
            <a:r>
              <a:rPr lang="ar-EG" sz="2800" dirty="0" smtClean="0"/>
              <a:t>  </a:t>
            </a:r>
          </a:p>
          <a:p>
            <a:pPr marL="0" indent="0" algn="l">
              <a:buNone/>
            </a:pPr>
            <a:endParaRPr lang="en-US" sz="2800" dirty="0" smtClean="0"/>
          </a:p>
          <a:p>
            <a:pPr marL="0" indent="0" algn="l">
              <a:buNone/>
            </a:pPr>
            <a:r>
              <a:rPr lang="en-US" sz="2800" dirty="0" smtClean="0"/>
              <a:t>It uses psychological trick to make users do security mistakes or giving sensitive information.</a:t>
            </a:r>
            <a:endParaRPr lang="ar-EG" sz="2800" dirty="0"/>
          </a:p>
        </p:txBody>
      </p:sp>
      <p:sp>
        <p:nvSpPr>
          <p:cNvPr id="2" name="Title 1"/>
          <p:cNvSpPr>
            <a:spLocks noGrp="1"/>
          </p:cNvSpPr>
          <p:nvPr>
            <p:ph type="title"/>
          </p:nvPr>
        </p:nvSpPr>
        <p:spPr>
          <a:xfrm>
            <a:off x="467544" y="332656"/>
            <a:ext cx="8229600" cy="750912"/>
          </a:xfrm>
        </p:spPr>
        <p:txBody>
          <a:bodyPr>
            <a:normAutofit/>
          </a:bodyPr>
          <a:lstStyle/>
          <a:p>
            <a:pPr algn="ctr"/>
            <a:r>
              <a:rPr lang="ar-EG" b="1" i="1" dirty="0" smtClean="0"/>
              <a:t> </a:t>
            </a:r>
            <a:r>
              <a:rPr lang="en-US" b="1" i="1" dirty="0" smtClean="0"/>
              <a:t>What is social engineering</a:t>
            </a:r>
            <a:endParaRPr lang="ar-EG" b="1" i="1" dirty="0"/>
          </a:p>
        </p:txBody>
      </p:sp>
      <p:sp>
        <p:nvSpPr>
          <p:cNvPr id="5" name="Slide Number Placeholder 4"/>
          <p:cNvSpPr>
            <a:spLocks noGrp="1"/>
          </p:cNvSpPr>
          <p:nvPr>
            <p:ph type="sldNum" sz="quarter" idx="15"/>
          </p:nvPr>
        </p:nvSpPr>
        <p:spPr/>
        <p:txBody>
          <a:bodyPr/>
          <a:lstStyle/>
          <a:p>
            <a:fld id="{72545B5C-C241-49B7-B6BA-3336326B0E5F}" type="slidenum">
              <a:rPr lang="ar-EG" smtClean="0"/>
              <a:t>2</a:t>
            </a:fld>
            <a:endParaRPr lang="ar-EG"/>
          </a:p>
        </p:txBody>
      </p:sp>
    </p:spTree>
    <p:extLst>
      <p:ext uri="{BB962C8B-B14F-4D97-AF65-F5344CB8AC3E}">
        <p14:creationId xmlns:p14="http://schemas.microsoft.com/office/powerpoint/2010/main" val="984018285"/>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7584" y="1556793"/>
            <a:ext cx="7478117" cy="4532458"/>
          </a:xfrm>
        </p:spPr>
      </p:pic>
      <p:sp>
        <p:nvSpPr>
          <p:cNvPr id="2" name="Title 1"/>
          <p:cNvSpPr>
            <a:spLocks noGrp="1"/>
          </p:cNvSpPr>
          <p:nvPr>
            <p:ph type="title"/>
          </p:nvPr>
        </p:nvSpPr>
        <p:spPr>
          <a:xfrm>
            <a:off x="467544" y="332656"/>
            <a:ext cx="8229600" cy="822920"/>
          </a:xfrm>
        </p:spPr>
        <p:txBody>
          <a:bodyPr>
            <a:normAutofit/>
          </a:bodyPr>
          <a:lstStyle/>
          <a:p>
            <a:pPr algn="ctr"/>
            <a:r>
              <a:rPr lang="en-US" sz="4400" b="1" i="1" dirty="0" smtClean="0"/>
              <a:t>Social engineering lifecycle</a:t>
            </a:r>
            <a:endParaRPr lang="ar-EG" sz="4400" b="1" i="1" dirty="0"/>
          </a:p>
        </p:txBody>
      </p:sp>
      <p:sp>
        <p:nvSpPr>
          <p:cNvPr id="5" name="Slide Number Placeholder 4"/>
          <p:cNvSpPr>
            <a:spLocks noGrp="1"/>
          </p:cNvSpPr>
          <p:nvPr>
            <p:ph type="sldNum" sz="quarter" idx="15"/>
          </p:nvPr>
        </p:nvSpPr>
        <p:spPr/>
        <p:txBody>
          <a:bodyPr/>
          <a:lstStyle/>
          <a:p>
            <a:fld id="{72545B5C-C241-49B7-B6BA-3336326B0E5F}" type="slidenum">
              <a:rPr lang="ar-EG" smtClean="0"/>
              <a:t>3</a:t>
            </a:fld>
            <a:endParaRPr lang="ar-EG"/>
          </a:p>
        </p:txBody>
      </p:sp>
    </p:spTree>
    <p:extLst>
      <p:ext uri="{BB962C8B-B14F-4D97-AF65-F5344CB8AC3E}">
        <p14:creationId xmlns:p14="http://schemas.microsoft.com/office/powerpoint/2010/main" val="2844211310"/>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276872"/>
            <a:ext cx="8229600" cy="2193032"/>
          </a:xfrm>
        </p:spPr>
        <p:txBody>
          <a:bodyPr>
            <a:noAutofit/>
          </a:bodyPr>
          <a:lstStyle/>
          <a:p>
            <a:pPr marL="0" indent="0" algn="l" rtl="0">
              <a:buNone/>
            </a:pPr>
            <a:r>
              <a:rPr lang="en-US" sz="2800" dirty="0" smtClean="0"/>
              <a:t>    it happens due to human mistakes</a:t>
            </a:r>
          </a:p>
          <a:p>
            <a:pPr marL="0" indent="0" algn="l" rtl="0">
              <a:buNone/>
            </a:pPr>
            <a:r>
              <a:rPr lang="en-US" sz="2800" dirty="0" smtClean="0"/>
              <a:t>So it  is hard to deceive every one in the same way </a:t>
            </a:r>
          </a:p>
          <a:p>
            <a:pPr marL="0" indent="0" algn="l">
              <a:buNone/>
            </a:pPr>
            <a:r>
              <a:rPr lang="en-US" sz="2800" dirty="0" smtClean="0"/>
              <a:t>       for that  it happens in one or more than step.</a:t>
            </a:r>
            <a:endParaRPr lang="ar-EG" sz="2800" dirty="0"/>
          </a:p>
        </p:txBody>
      </p:sp>
      <p:sp>
        <p:nvSpPr>
          <p:cNvPr id="2" name="Title 1"/>
          <p:cNvSpPr>
            <a:spLocks noGrp="1"/>
          </p:cNvSpPr>
          <p:nvPr>
            <p:ph type="title"/>
          </p:nvPr>
        </p:nvSpPr>
        <p:spPr>
          <a:xfrm>
            <a:off x="467544" y="260649"/>
            <a:ext cx="8229600" cy="822920"/>
          </a:xfrm>
        </p:spPr>
        <p:txBody>
          <a:bodyPr>
            <a:noAutofit/>
          </a:bodyPr>
          <a:lstStyle/>
          <a:p>
            <a:pPr algn="ctr"/>
            <a:r>
              <a:rPr lang="en-US" sz="3600" b="1" i="1" dirty="0" smtClean="0"/>
              <a:t>Social engineering has multiple steps</a:t>
            </a:r>
            <a:endParaRPr lang="ar-EG" sz="3600" b="1" i="1" dirty="0"/>
          </a:p>
        </p:txBody>
      </p:sp>
      <p:sp>
        <p:nvSpPr>
          <p:cNvPr id="5" name="Slide Number Placeholder 4"/>
          <p:cNvSpPr>
            <a:spLocks noGrp="1"/>
          </p:cNvSpPr>
          <p:nvPr>
            <p:ph type="sldNum" sz="quarter" idx="15"/>
          </p:nvPr>
        </p:nvSpPr>
        <p:spPr/>
        <p:txBody>
          <a:bodyPr/>
          <a:lstStyle/>
          <a:p>
            <a:fld id="{72545B5C-C241-49B7-B6BA-3336326B0E5F}" type="slidenum">
              <a:rPr lang="ar-EG" smtClean="0"/>
              <a:t>4</a:t>
            </a:fld>
            <a:endParaRPr lang="ar-EG"/>
          </a:p>
        </p:txBody>
      </p:sp>
    </p:spTree>
    <p:extLst>
      <p:ext uri="{BB962C8B-B14F-4D97-AF65-F5344CB8AC3E}">
        <p14:creationId xmlns:p14="http://schemas.microsoft.com/office/powerpoint/2010/main" val="4050755522"/>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708920"/>
            <a:ext cx="8229600" cy="1977008"/>
          </a:xfrm>
        </p:spPr>
        <p:txBody>
          <a:bodyPr>
            <a:normAutofit/>
          </a:bodyPr>
          <a:lstStyle/>
          <a:p>
            <a:pPr marL="0" indent="0" algn="l">
              <a:buNone/>
            </a:pPr>
            <a:r>
              <a:rPr lang="en-US" sz="3200" dirty="0" smtClean="0"/>
              <a:t>Identify the victim</a:t>
            </a:r>
          </a:p>
          <a:p>
            <a:pPr marL="0" indent="0" algn="l">
              <a:buNone/>
            </a:pPr>
            <a:r>
              <a:rPr lang="en-US" sz="3200" dirty="0" smtClean="0"/>
              <a:t>Gathering background information</a:t>
            </a:r>
          </a:p>
          <a:p>
            <a:pPr marL="0" indent="0" algn="l">
              <a:buNone/>
            </a:pPr>
            <a:r>
              <a:rPr lang="en-US" sz="3200" dirty="0" smtClean="0"/>
              <a:t>Selecting attack method</a:t>
            </a:r>
            <a:endParaRPr lang="ar-EG" sz="3200" dirty="0"/>
          </a:p>
        </p:txBody>
      </p:sp>
      <p:sp>
        <p:nvSpPr>
          <p:cNvPr id="2" name="Title 1"/>
          <p:cNvSpPr>
            <a:spLocks noGrp="1"/>
          </p:cNvSpPr>
          <p:nvPr>
            <p:ph type="title"/>
          </p:nvPr>
        </p:nvSpPr>
        <p:spPr/>
        <p:txBody>
          <a:bodyPr>
            <a:normAutofit fontScale="90000"/>
          </a:bodyPr>
          <a:lstStyle/>
          <a:p>
            <a:pPr algn="ctr"/>
            <a:r>
              <a:rPr lang="en-US" sz="6000" b="1" i="1" dirty="0" smtClean="0"/>
              <a:t>1-</a:t>
            </a:r>
            <a:r>
              <a:rPr lang="en-US" b="1" i="1" dirty="0" smtClean="0"/>
              <a:t>Preparing </a:t>
            </a:r>
            <a:r>
              <a:rPr lang="en-US" b="1" i="1" dirty="0" smtClean="0"/>
              <a:t>the ground for the attack </a:t>
            </a:r>
            <a:endParaRPr lang="ar-EG" b="1" i="1" dirty="0"/>
          </a:p>
        </p:txBody>
      </p:sp>
      <p:sp>
        <p:nvSpPr>
          <p:cNvPr id="5" name="Slide Number Placeholder 4"/>
          <p:cNvSpPr>
            <a:spLocks noGrp="1"/>
          </p:cNvSpPr>
          <p:nvPr>
            <p:ph type="sldNum" sz="quarter" idx="15"/>
          </p:nvPr>
        </p:nvSpPr>
        <p:spPr/>
        <p:txBody>
          <a:bodyPr/>
          <a:lstStyle/>
          <a:p>
            <a:fld id="{72545B5C-C241-49B7-B6BA-3336326B0E5F}" type="slidenum">
              <a:rPr lang="ar-EG" smtClean="0"/>
              <a:t>5</a:t>
            </a:fld>
            <a:endParaRPr lang="ar-EG"/>
          </a:p>
        </p:txBody>
      </p:sp>
    </p:spTree>
    <p:extLst>
      <p:ext uri="{BB962C8B-B14F-4D97-AF65-F5344CB8AC3E}">
        <p14:creationId xmlns:p14="http://schemas.microsoft.com/office/powerpoint/2010/main" val="1091572489"/>
      </p:ext>
    </p:extLst>
  </p:cSld>
  <p:clrMapOvr>
    <a:masterClrMapping/>
  </p:clrMapOvr>
  <mc:AlternateContent xmlns:mc="http://schemas.openxmlformats.org/markup-compatibility/2006">
    <mc:Choice xmlns:p14="http://schemas.microsoft.com/office/powerpoint/2010/main" Requires="p14">
      <p:transition spd="slow" p14:dur="3900">
        <p14:glitter dir="r"/>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204865"/>
            <a:ext cx="8229600" cy="1760984"/>
          </a:xfrm>
        </p:spPr>
        <p:txBody>
          <a:bodyPr>
            <a:normAutofit/>
          </a:bodyPr>
          <a:lstStyle/>
          <a:p>
            <a:pPr marL="0" indent="0" algn="l">
              <a:buNone/>
            </a:pPr>
            <a:r>
              <a:rPr lang="en-US" sz="3200" dirty="0" smtClean="0"/>
              <a:t>Engaging the target</a:t>
            </a:r>
          </a:p>
          <a:p>
            <a:pPr marL="0" indent="0" algn="l">
              <a:buNone/>
            </a:pPr>
            <a:r>
              <a:rPr lang="en-US" sz="3200" dirty="0" smtClean="0"/>
              <a:t>Spanning a story</a:t>
            </a:r>
          </a:p>
          <a:p>
            <a:pPr marL="0" indent="0" algn="l">
              <a:buNone/>
            </a:pPr>
            <a:r>
              <a:rPr lang="en-US" sz="3200" dirty="0" smtClean="0"/>
              <a:t>Taking control of interactions</a:t>
            </a:r>
          </a:p>
          <a:p>
            <a:endParaRPr lang="ar-EG" sz="3200" dirty="0"/>
          </a:p>
        </p:txBody>
      </p:sp>
      <p:sp>
        <p:nvSpPr>
          <p:cNvPr id="2" name="Title 1"/>
          <p:cNvSpPr>
            <a:spLocks noGrp="1"/>
          </p:cNvSpPr>
          <p:nvPr>
            <p:ph type="title"/>
          </p:nvPr>
        </p:nvSpPr>
        <p:spPr/>
        <p:txBody>
          <a:bodyPr>
            <a:normAutofit fontScale="90000"/>
          </a:bodyPr>
          <a:lstStyle/>
          <a:p>
            <a:r>
              <a:rPr lang="en-US" sz="4900" b="1" i="1" dirty="0" smtClean="0"/>
              <a:t>2-</a:t>
            </a:r>
            <a:r>
              <a:rPr lang="en-US" b="1" i="1" dirty="0" smtClean="0"/>
              <a:t>Deceiving </a:t>
            </a:r>
            <a:r>
              <a:rPr lang="en-US" b="1" i="1" dirty="0" smtClean="0"/>
              <a:t>the victim to gain foothold</a:t>
            </a:r>
            <a:endParaRPr lang="ar-EG" b="1" i="1" dirty="0"/>
          </a:p>
        </p:txBody>
      </p:sp>
      <p:sp>
        <p:nvSpPr>
          <p:cNvPr id="5" name="Slide Number Placeholder 4"/>
          <p:cNvSpPr>
            <a:spLocks noGrp="1"/>
          </p:cNvSpPr>
          <p:nvPr>
            <p:ph type="sldNum" sz="quarter" idx="15"/>
          </p:nvPr>
        </p:nvSpPr>
        <p:spPr/>
        <p:txBody>
          <a:bodyPr/>
          <a:lstStyle/>
          <a:p>
            <a:fld id="{72545B5C-C241-49B7-B6BA-3336326B0E5F}" type="slidenum">
              <a:rPr lang="ar-EG" smtClean="0"/>
              <a:t>6</a:t>
            </a:fld>
            <a:endParaRPr lang="ar-EG"/>
          </a:p>
        </p:txBody>
      </p:sp>
    </p:spTree>
    <p:extLst>
      <p:ext uri="{BB962C8B-B14F-4D97-AF65-F5344CB8AC3E}">
        <p14:creationId xmlns:p14="http://schemas.microsoft.com/office/powerpoint/2010/main" val="1375057457"/>
      </p:ext>
    </p:extLst>
  </p:cSld>
  <p:clrMapOvr>
    <a:masterClrMapping/>
  </p:clrMapOvr>
  <mc:AlternateContent xmlns:mc="http://schemas.openxmlformats.org/markup-compatibility/2006">
    <mc:Choice xmlns:p14="http://schemas.microsoft.com/office/powerpoint/2010/main" Requires="p14">
      <p:transition spd="slow" p14:dur="4000">
        <p14:vortex/>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132857"/>
            <a:ext cx="8229600" cy="2193032"/>
          </a:xfrm>
        </p:spPr>
        <p:txBody>
          <a:bodyPr>
            <a:normAutofit/>
          </a:bodyPr>
          <a:lstStyle/>
          <a:p>
            <a:pPr marL="0" indent="0" algn="l">
              <a:buNone/>
            </a:pPr>
            <a:r>
              <a:rPr lang="en-US" sz="3200" dirty="0" smtClean="0"/>
              <a:t>Expanding foothold</a:t>
            </a:r>
          </a:p>
          <a:p>
            <a:pPr marL="0" indent="0" algn="l">
              <a:buNone/>
            </a:pPr>
            <a:r>
              <a:rPr lang="en-US" sz="3200" dirty="0" smtClean="0"/>
              <a:t>Executing the attack</a:t>
            </a:r>
          </a:p>
          <a:p>
            <a:pPr marL="0" indent="0" algn="l">
              <a:buNone/>
            </a:pPr>
            <a:r>
              <a:rPr lang="en-US" sz="3200" dirty="0" smtClean="0"/>
              <a:t> disrupting business and sensitive data</a:t>
            </a:r>
          </a:p>
          <a:p>
            <a:pPr marL="0" indent="0" algn="l">
              <a:buNone/>
            </a:pPr>
            <a:endParaRPr lang="ar-EG" sz="3200" dirty="0"/>
          </a:p>
        </p:txBody>
      </p:sp>
      <p:sp>
        <p:nvSpPr>
          <p:cNvPr id="2" name="Title 1"/>
          <p:cNvSpPr>
            <a:spLocks noGrp="1"/>
          </p:cNvSpPr>
          <p:nvPr>
            <p:ph type="title"/>
          </p:nvPr>
        </p:nvSpPr>
        <p:spPr/>
        <p:txBody>
          <a:bodyPr>
            <a:normAutofit fontScale="90000"/>
          </a:bodyPr>
          <a:lstStyle/>
          <a:p>
            <a:r>
              <a:rPr lang="en-US" sz="4900" b="1" dirty="0" smtClean="0"/>
              <a:t>3</a:t>
            </a:r>
            <a:r>
              <a:rPr lang="en-US" b="1" i="1" dirty="0" smtClean="0"/>
              <a:t>-Information </a:t>
            </a:r>
            <a:r>
              <a:rPr lang="en-US" b="1" i="1" dirty="0" smtClean="0"/>
              <a:t>Obtaining over a period of time </a:t>
            </a:r>
            <a:endParaRPr lang="ar-EG" b="1" i="1" dirty="0"/>
          </a:p>
        </p:txBody>
      </p:sp>
      <p:sp>
        <p:nvSpPr>
          <p:cNvPr id="5" name="Slide Number Placeholder 4"/>
          <p:cNvSpPr>
            <a:spLocks noGrp="1"/>
          </p:cNvSpPr>
          <p:nvPr>
            <p:ph type="sldNum" sz="quarter" idx="15"/>
          </p:nvPr>
        </p:nvSpPr>
        <p:spPr/>
        <p:txBody>
          <a:bodyPr/>
          <a:lstStyle/>
          <a:p>
            <a:fld id="{72545B5C-C241-49B7-B6BA-3336326B0E5F}" type="slidenum">
              <a:rPr lang="ar-EG" smtClean="0"/>
              <a:t>7</a:t>
            </a:fld>
            <a:endParaRPr lang="ar-EG"/>
          </a:p>
        </p:txBody>
      </p:sp>
    </p:spTree>
    <p:extLst>
      <p:ext uri="{BB962C8B-B14F-4D97-AF65-F5344CB8AC3E}">
        <p14:creationId xmlns:p14="http://schemas.microsoft.com/office/powerpoint/2010/main" val="4223910901"/>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132856"/>
            <a:ext cx="8229600" cy="2049016"/>
          </a:xfrm>
        </p:spPr>
        <p:txBody>
          <a:bodyPr>
            <a:normAutofit/>
          </a:bodyPr>
          <a:lstStyle/>
          <a:p>
            <a:pPr marL="0" indent="0" algn="l">
              <a:buNone/>
            </a:pPr>
            <a:r>
              <a:rPr lang="en-US" sz="3200" dirty="0" smtClean="0"/>
              <a:t>Removing all traces of malware</a:t>
            </a:r>
          </a:p>
          <a:p>
            <a:pPr marL="0" indent="0" algn="l">
              <a:buNone/>
            </a:pPr>
            <a:r>
              <a:rPr lang="en-US" sz="3200" dirty="0" smtClean="0"/>
              <a:t>Converging tracks </a:t>
            </a:r>
          </a:p>
          <a:p>
            <a:pPr marL="0" indent="0" algn="l">
              <a:buNone/>
            </a:pPr>
            <a:r>
              <a:rPr lang="en-US" sz="3200" dirty="0" smtClean="0"/>
              <a:t>Bringing charade to natural end</a:t>
            </a:r>
            <a:endParaRPr lang="ar-EG" sz="3200" dirty="0"/>
          </a:p>
        </p:txBody>
      </p:sp>
      <p:sp>
        <p:nvSpPr>
          <p:cNvPr id="2" name="Title 1"/>
          <p:cNvSpPr>
            <a:spLocks noGrp="1"/>
          </p:cNvSpPr>
          <p:nvPr>
            <p:ph type="title"/>
          </p:nvPr>
        </p:nvSpPr>
        <p:spPr/>
        <p:txBody>
          <a:bodyPr>
            <a:normAutofit fontScale="90000"/>
          </a:bodyPr>
          <a:lstStyle/>
          <a:p>
            <a:r>
              <a:rPr lang="en-US" sz="5300" b="1" i="1" dirty="0" smtClean="0"/>
              <a:t>4</a:t>
            </a:r>
            <a:r>
              <a:rPr lang="en-US" sz="4400" b="1" i="1" dirty="0" smtClean="0"/>
              <a:t>-</a:t>
            </a:r>
            <a:r>
              <a:rPr lang="en-US" b="1" i="1" dirty="0" smtClean="0"/>
              <a:t>Closing </a:t>
            </a:r>
            <a:r>
              <a:rPr lang="en-US" b="1" i="1" dirty="0" smtClean="0"/>
              <a:t>the interaction without arousing suspicions </a:t>
            </a:r>
            <a:endParaRPr lang="ar-EG" b="1" i="1" dirty="0"/>
          </a:p>
        </p:txBody>
      </p:sp>
      <p:sp>
        <p:nvSpPr>
          <p:cNvPr id="5" name="Slide Number Placeholder 4"/>
          <p:cNvSpPr>
            <a:spLocks noGrp="1"/>
          </p:cNvSpPr>
          <p:nvPr>
            <p:ph type="sldNum" sz="quarter" idx="15"/>
          </p:nvPr>
        </p:nvSpPr>
        <p:spPr/>
        <p:txBody>
          <a:bodyPr/>
          <a:lstStyle/>
          <a:p>
            <a:fld id="{72545B5C-C241-49B7-B6BA-3336326B0E5F}" type="slidenum">
              <a:rPr lang="ar-EG" smtClean="0"/>
              <a:t>8</a:t>
            </a:fld>
            <a:endParaRPr lang="ar-EG"/>
          </a:p>
        </p:txBody>
      </p:sp>
    </p:spTree>
    <p:extLst>
      <p:ext uri="{BB962C8B-B14F-4D97-AF65-F5344CB8AC3E}">
        <p14:creationId xmlns:p14="http://schemas.microsoft.com/office/powerpoint/2010/main" val="3362133611"/>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700808"/>
            <a:ext cx="8229600" cy="3345160"/>
          </a:xfrm>
        </p:spPr>
        <p:txBody>
          <a:bodyPr>
            <a:normAutofit/>
          </a:bodyPr>
          <a:lstStyle/>
          <a:p>
            <a:pPr marL="0" indent="0" algn="l">
              <a:buNone/>
            </a:pPr>
            <a:r>
              <a:rPr lang="en-US" sz="3200" dirty="0" smtClean="0"/>
              <a:t>social engineering danger beeing in it's relys on human error rather than a fault in software or operating system.</a:t>
            </a:r>
          </a:p>
          <a:p>
            <a:pPr marL="0" indent="0" algn="l">
              <a:buNone/>
            </a:pPr>
            <a:r>
              <a:rPr lang="en-US" sz="3200" dirty="0" smtClean="0"/>
              <a:t>Mistakes made by legitimate users are much less predictable, making them harder to identify the attacker.</a:t>
            </a:r>
            <a:endParaRPr lang="ar-EG" sz="3200" dirty="0"/>
          </a:p>
        </p:txBody>
      </p:sp>
      <p:sp>
        <p:nvSpPr>
          <p:cNvPr id="2" name="Title 1"/>
          <p:cNvSpPr>
            <a:spLocks noGrp="1"/>
          </p:cNvSpPr>
          <p:nvPr>
            <p:ph type="title"/>
          </p:nvPr>
        </p:nvSpPr>
        <p:spPr>
          <a:xfrm>
            <a:off x="467544" y="332656"/>
            <a:ext cx="8229600" cy="750912"/>
          </a:xfrm>
        </p:spPr>
        <p:txBody>
          <a:bodyPr>
            <a:normAutofit/>
          </a:bodyPr>
          <a:lstStyle/>
          <a:p>
            <a:pPr algn="ctr"/>
            <a:r>
              <a:rPr lang="en-US" b="1" i="1" dirty="0" smtClean="0"/>
              <a:t>Danger of social engineering</a:t>
            </a:r>
            <a:endParaRPr lang="ar-EG" b="1" i="1" dirty="0"/>
          </a:p>
        </p:txBody>
      </p:sp>
      <p:sp>
        <p:nvSpPr>
          <p:cNvPr id="5" name="Slide Number Placeholder 4"/>
          <p:cNvSpPr>
            <a:spLocks noGrp="1"/>
          </p:cNvSpPr>
          <p:nvPr>
            <p:ph type="sldNum" sz="quarter" idx="15"/>
          </p:nvPr>
        </p:nvSpPr>
        <p:spPr/>
        <p:txBody>
          <a:bodyPr/>
          <a:lstStyle/>
          <a:p>
            <a:fld id="{72545B5C-C241-49B7-B6BA-3336326B0E5F}" type="slidenum">
              <a:rPr lang="ar-EG" smtClean="0"/>
              <a:t>9</a:t>
            </a:fld>
            <a:endParaRPr lang="ar-EG"/>
          </a:p>
        </p:txBody>
      </p:sp>
    </p:spTree>
    <p:extLst>
      <p:ext uri="{BB962C8B-B14F-4D97-AF65-F5344CB8AC3E}">
        <p14:creationId xmlns:p14="http://schemas.microsoft.com/office/powerpoint/2010/main" val="56679311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060848"/>
            <a:ext cx="8229600" cy="2376264"/>
          </a:xfrm>
        </p:spPr>
        <p:txBody>
          <a:bodyPr>
            <a:noAutofit/>
          </a:bodyPr>
          <a:lstStyle/>
          <a:p>
            <a:pPr marL="0" indent="0" algn="ctr">
              <a:buNone/>
            </a:pPr>
            <a:r>
              <a:rPr lang="en-US" sz="2800" dirty="0" smtClean="0"/>
              <a:t>Social engineering attacks come in many different forms and can be performed anywhere where human interaction is involved. </a:t>
            </a:r>
            <a:r>
              <a:rPr lang="en-US" sz="2800" dirty="0">
                <a:solidFill>
                  <a:schemeClr val="accent3">
                    <a:lumMod val="40000"/>
                    <a:lumOff val="60000"/>
                  </a:schemeClr>
                </a:solidFill>
              </a:rPr>
              <a:t>The following are the </a:t>
            </a:r>
            <a:r>
              <a:rPr lang="en-US" sz="2800" dirty="0" smtClean="0">
                <a:solidFill>
                  <a:schemeClr val="accent3">
                    <a:lumMod val="40000"/>
                    <a:lumOff val="60000"/>
                  </a:schemeClr>
                </a:solidFill>
              </a:rPr>
              <a:t>five  </a:t>
            </a:r>
            <a:r>
              <a:rPr lang="en-US" sz="2800" dirty="0" smtClean="0">
                <a:solidFill>
                  <a:schemeClr val="accent3">
                    <a:lumMod val="40000"/>
                    <a:lumOff val="60000"/>
                  </a:schemeClr>
                </a:solidFill>
              </a:rPr>
              <a:t>most common forms of digital social engineering assaults.</a:t>
            </a:r>
            <a:endParaRPr lang="ar-EG" sz="2800" dirty="0">
              <a:solidFill>
                <a:schemeClr val="accent3">
                  <a:lumMod val="40000"/>
                  <a:lumOff val="60000"/>
                </a:schemeClr>
              </a:solidFill>
            </a:endParaRPr>
          </a:p>
        </p:txBody>
      </p:sp>
      <p:sp>
        <p:nvSpPr>
          <p:cNvPr id="2" name="Title 1"/>
          <p:cNvSpPr>
            <a:spLocks noGrp="1"/>
          </p:cNvSpPr>
          <p:nvPr>
            <p:ph type="title"/>
          </p:nvPr>
        </p:nvSpPr>
        <p:spPr>
          <a:xfrm>
            <a:off x="467544" y="404664"/>
            <a:ext cx="8229600" cy="678904"/>
          </a:xfrm>
        </p:spPr>
        <p:txBody>
          <a:bodyPr>
            <a:normAutofit fontScale="90000"/>
          </a:bodyPr>
          <a:lstStyle/>
          <a:p>
            <a:r>
              <a:rPr lang="en-US" b="1" i="1" dirty="0" smtClean="0"/>
              <a:t>Social engineering attack techniques</a:t>
            </a:r>
            <a:endParaRPr lang="ar-EG" b="1" i="1" dirty="0"/>
          </a:p>
        </p:txBody>
      </p:sp>
      <p:sp>
        <p:nvSpPr>
          <p:cNvPr id="5" name="Slide Number Placeholder 4"/>
          <p:cNvSpPr>
            <a:spLocks noGrp="1"/>
          </p:cNvSpPr>
          <p:nvPr>
            <p:ph type="sldNum" sz="quarter" idx="15"/>
          </p:nvPr>
        </p:nvSpPr>
        <p:spPr/>
        <p:txBody>
          <a:bodyPr/>
          <a:lstStyle/>
          <a:p>
            <a:fld id="{72545B5C-C241-49B7-B6BA-3336326B0E5F}" type="slidenum">
              <a:rPr lang="ar-EG" smtClean="0"/>
              <a:t>10</a:t>
            </a:fld>
            <a:endParaRPr lang="ar-EG"/>
          </a:p>
        </p:txBody>
      </p:sp>
    </p:spTree>
    <p:extLst>
      <p:ext uri="{BB962C8B-B14F-4D97-AF65-F5344CB8AC3E}">
        <p14:creationId xmlns:p14="http://schemas.microsoft.com/office/powerpoint/2010/main" val="3458212873"/>
      </p:ext>
    </p:extLst>
  </p:cSld>
  <p:clrMapOvr>
    <a:masterClrMapping/>
  </p:clrMapOvr>
  <mc:AlternateContent xmlns:mc="http://schemas.openxmlformats.org/markup-compatibility/2006">
    <mc:Choice xmlns:p14="http://schemas.microsoft.com/office/powerpoint/2010/main" Requires="p14">
      <p:transition spd="slow" p14:dur="3400">
        <p14:reveal thruBlk="1" dir="r"/>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l">
              <a:buNone/>
            </a:pPr>
            <a:endParaRPr lang="en-US" sz="3200" dirty="0" smtClean="0"/>
          </a:p>
          <a:p>
            <a:pPr marL="0" indent="0" algn="l">
              <a:buNone/>
            </a:pPr>
            <a:r>
              <a:rPr lang="en-US" sz="3200" dirty="0" smtClean="0"/>
              <a:t>baiting attacks use a false promise to attract a victim’s greed or curiosity . They trap victims and steals their personal information or inflicts their systems with malware. </a:t>
            </a:r>
          </a:p>
        </p:txBody>
      </p:sp>
      <p:sp>
        <p:nvSpPr>
          <p:cNvPr id="2" name="Title 1"/>
          <p:cNvSpPr>
            <a:spLocks noGrp="1"/>
          </p:cNvSpPr>
          <p:nvPr>
            <p:ph type="title"/>
          </p:nvPr>
        </p:nvSpPr>
        <p:spPr>
          <a:xfrm>
            <a:off x="467544" y="404664"/>
            <a:ext cx="8229600" cy="678904"/>
          </a:xfrm>
        </p:spPr>
        <p:txBody>
          <a:bodyPr>
            <a:normAutofit fontScale="90000"/>
          </a:bodyPr>
          <a:lstStyle/>
          <a:p>
            <a:pPr algn="ctr"/>
            <a:r>
              <a:rPr lang="en-US" sz="5300" b="1" i="1" dirty="0" smtClean="0"/>
              <a:t>1-</a:t>
            </a:r>
            <a:r>
              <a:rPr lang="en-US" b="1" i="1" dirty="0" smtClean="0"/>
              <a:t>Baiting</a:t>
            </a:r>
            <a:endParaRPr lang="ar-EG" b="1" i="1" dirty="0"/>
          </a:p>
        </p:txBody>
      </p:sp>
      <p:sp>
        <p:nvSpPr>
          <p:cNvPr id="5" name="Slide Number Placeholder 4"/>
          <p:cNvSpPr>
            <a:spLocks noGrp="1"/>
          </p:cNvSpPr>
          <p:nvPr>
            <p:ph type="sldNum" sz="quarter" idx="15"/>
          </p:nvPr>
        </p:nvSpPr>
        <p:spPr/>
        <p:txBody>
          <a:bodyPr/>
          <a:lstStyle/>
          <a:p>
            <a:fld id="{72545B5C-C241-49B7-B6BA-3336326B0E5F}" type="slidenum">
              <a:rPr lang="ar-EG" smtClean="0"/>
              <a:t>11</a:t>
            </a:fld>
            <a:endParaRPr lang="ar-EG"/>
          </a:p>
        </p:txBody>
      </p:sp>
    </p:spTree>
    <p:extLst>
      <p:ext uri="{BB962C8B-B14F-4D97-AF65-F5344CB8AC3E}">
        <p14:creationId xmlns:p14="http://schemas.microsoft.com/office/powerpoint/2010/main" val="1790472187"/>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1"/>
            <a:ext cx="8229600" cy="2841104"/>
          </a:xfrm>
        </p:spPr>
        <p:txBody>
          <a:bodyPr>
            <a:normAutofit/>
          </a:bodyPr>
          <a:lstStyle/>
          <a:p>
            <a:pPr marL="0" indent="0" algn="l">
              <a:buNone/>
            </a:pPr>
            <a:r>
              <a:rPr lang="en-US" sz="3200" dirty="0" smtClean="0"/>
              <a:t>Scareware involves victims being bombarded with false alarms and fictitious threats. Users are deceived to think their system is infected with malware, prompting them to install software that is malware.</a:t>
            </a:r>
            <a:endParaRPr lang="ar-EG" sz="3200" dirty="0" smtClean="0"/>
          </a:p>
          <a:p>
            <a:pPr marL="0" indent="0" algn="l">
              <a:buNone/>
            </a:pPr>
            <a:endParaRPr lang="ar-EG" sz="3200" dirty="0"/>
          </a:p>
        </p:txBody>
      </p:sp>
      <p:sp>
        <p:nvSpPr>
          <p:cNvPr id="2" name="Title 1"/>
          <p:cNvSpPr>
            <a:spLocks noGrp="1"/>
          </p:cNvSpPr>
          <p:nvPr>
            <p:ph type="title"/>
          </p:nvPr>
        </p:nvSpPr>
        <p:spPr/>
        <p:txBody>
          <a:bodyPr>
            <a:normAutofit fontScale="90000"/>
          </a:bodyPr>
          <a:lstStyle/>
          <a:p>
            <a:pPr algn="ctr"/>
            <a:r>
              <a:rPr lang="en-US" sz="5300" b="1" i="1" dirty="0" smtClean="0"/>
              <a:t>2-</a:t>
            </a:r>
            <a:r>
              <a:rPr lang="en-US" sz="4400" b="1" i="1" dirty="0" smtClean="0"/>
              <a:t>Scareware</a:t>
            </a:r>
            <a:r>
              <a:rPr lang="en-US" dirty="0" smtClean="0"/>
              <a:t/>
            </a:r>
            <a:br>
              <a:rPr lang="en-US" dirty="0" smtClean="0"/>
            </a:br>
            <a:endParaRPr lang="ar-EG" dirty="0"/>
          </a:p>
        </p:txBody>
      </p:sp>
      <p:sp>
        <p:nvSpPr>
          <p:cNvPr id="5" name="Slide Number Placeholder 4"/>
          <p:cNvSpPr>
            <a:spLocks noGrp="1"/>
          </p:cNvSpPr>
          <p:nvPr>
            <p:ph type="sldNum" sz="quarter" idx="15"/>
          </p:nvPr>
        </p:nvSpPr>
        <p:spPr/>
        <p:txBody>
          <a:bodyPr/>
          <a:lstStyle/>
          <a:p>
            <a:fld id="{72545B5C-C241-49B7-B6BA-3336326B0E5F}" type="slidenum">
              <a:rPr lang="ar-EG" smtClean="0"/>
              <a:t>12</a:t>
            </a:fld>
            <a:endParaRPr lang="ar-EG"/>
          </a:p>
        </p:txBody>
      </p:sp>
    </p:spTree>
    <p:extLst>
      <p:ext uri="{BB962C8B-B14F-4D97-AF65-F5344CB8AC3E}">
        <p14:creationId xmlns:p14="http://schemas.microsoft.com/office/powerpoint/2010/main" val="399252122"/>
      </p:ext>
    </p:extLst>
  </p:cSld>
  <p:clrMapOvr>
    <a:masterClrMapping/>
  </p:clrMapOvr>
  <mc:AlternateContent xmlns:mc="http://schemas.openxmlformats.org/markup-compatibility/2006">
    <mc:Choice xmlns:p14="http://schemas.microsoft.com/office/powerpoint/2010/main" Requires="p14">
      <p:transition spd="slow" p14:dur="4000">
        <p14:vortex/>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lgn="l">
              <a:buNone/>
            </a:pPr>
            <a:r>
              <a:rPr lang="en-US" sz="2400" dirty="0" smtClean="0"/>
              <a:t>Here an attacker obtains information through a series of cleverly crafted lies. The scam is often initiated by a perpetrator pretending to need sensitive information from a victim so as to perform a critical task.</a:t>
            </a:r>
          </a:p>
          <a:p>
            <a:pPr marL="0" indent="0" algn="l">
              <a:buNone/>
            </a:pPr>
            <a:r>
              <a:rPr lang="en-US" sz="2400" dirty="0" smtClean="0"/>
              <a:t>The attacker usually starts by establishing trust with their victim by impersonating co-workers, police, bank and tax officials, or other persons who have right-to-know authority. The attacker asks questions that are ostensibly required to confirm the victim’s identity, through which they gather important personal data.</a:t>
            </a:r>
            <a:endParaRPr lang="ar-EG" sz="2400" dirty="0"/>
          </a:p>
        </p:txBody>
      </p:sp>
      <p:sp>
        <p:nvSpPr>
          <p:cNvPr id="2" name="Title 1"/>
          <p:cNvSpPr>
            <a:spLocks noGrp="1"/>
          </p:cNvSpPr>
          <p:nvPr>
            <p:ph type="title"/>
          </p:nvPr>
        </p:nvSpPr>
        <p:spPr/>
        <p:txBody>
          <a:bodyPr>
            <a:normAutofit fontScale="90000"/>
          </a:bodyPr>
          <a:lstStyle/>
          <a:p>
            <a:pPr algn="ctr"/>
            <a:r>
              <a:rPr lang="en-US" sz="4900" b="1" dirty="0" smtClean="0"/>
              <a:t>3</a:t>
            </a:r>
            <a:r>
              <a:rPr lang="en-US" sz="4900" b="1" i="1" dirty="0" smtClean="0"/>
              <a:t>-</a:t>
            </a:r>
            <a:r>
              <a:rPr lang="en-US" sz="4400" b="1" i="1" dirty="0" smtClean="0"/>
              <a:t>Pretexting</a:t>
            </a:r>
            <a:r>
              <a:rPr lang="en-US" dirty="0" smtClean="0"/>
              <a:t/>
            </a:r>
            <a:br>
              <a:rPr lang="en-US" dirty="0" smtClean="0"/>
            </a:br>
            <a:endParaRPr lang="ar-EG" dirty="0"/>
          </a:p>
        </p:txBody>
      </p:sp>
      <p:sp>
        <p:nvSpPr>
          <p:cNvPr id="5" name="Slide Number Placeholder 4"/>
          <p:cNvSpPr>
            <a:spLocks noGrp="1"/>
          </p:cNvSpPr>
          <p:nvPr>
            <p:ph type="sldNum" sz="quarter" idx="15"/>
          </p:nvPr>
        </p:nvSpPr>
        <p:spPr/>
        <p:txBody>
          <a:bodyPr/>
          <a:lstStyle/>
          <a:p>
            <a:fld id="{72545B5C-C241-49B7-B6BA-3336326B0E5F}" type="slidenum">
              <a:rPr lang="ar-EG" smtClean="0"/>
              <a:t>13</a:t>
            </a:fld>
            <a:endParaRPr lang="ar-EG"/>
          </a:p>
        </p:txBody>
      </p:sp>
    </p:spTree>
    <p:extLst>
      <p:ext uri="{BB962C8B-B14F-4D97-AF65-F5344CB8AC3E}">
        <p14:creationId xmlns:p14="http://schemas.microsoft.com/office/powerpoint/2010/main" val="4196405719"/>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l">
              <a:buNone/>
            </a:pPr>
            <a:r>
              <a:rPr lang="en-US" sz="3200" dirty="0" smtClean="0"/>
              <a:t>As one of the most popular social engineering attack types, phishing scams are email and text message campaigns aimed at creating a sense of urgency, curiosity or fear in victims. It then prods them into revealing sensitive information, clicking on links to malicious websites, or opening attachments that contain malware.</a:t>
            </a:r>
            <a:endParaRPr lang="ar-EG" sz="3200" dirty="0"/>
          </a:p>
        </p:txBody>
      </p:sp>
      <p:sp>
        <p:nvSpPr>
          <p:cNvPr id="2" name="Title 1"/>
          <p:cNvSpPr>
            <a:spLocks noGrp="1"/>
          </p:cNvSpPr>
          <p:nvPr>
            <p:ph type="title"/>
          </p:nvPr>
        </p:nvSpPr>
        <p:spPr/>
        <p:txBody>
          <a:bodyPr>
            <a:normAutofit fontScale="90000"/>
          </a:bodyPr>
          <a:lstStyle/>
          <a:p>
            <a:pPr algn="ctr"/>
            <a:r>
              <a:rPr lang="en-US" sz="5300" b="1" i="1" dirty="0" smtClean="0"/>
              <a:t>4</a:t>
            </a:r>
            <a:r>
              <a:rPr lang="en-US" sz="4400" b="1" i="1" dirty="0" smtClean="0"/>
              <a:t>-Phishing</a:t>
            </a:r>
            <a:r>
              <a:rPr lang="en-US" dirty="0" smtClean="0"/>
              <a:t/>
            </a:r>
            <a:br>
              <a:rPr lang="en-US" dirty="0" smtClean="0"/>
            </a:br>
            <a:endParaRPr lang="ar-EG" dirty="0"/>
          </a:p>
        </p:txBody>
      </p:sp>
      <p:sp>
        <p:nvSpPr>
          <p:cNvPr id="5" name="Slide Number Placeholder 4"/>
          <p:cNvSpPr>
            <a:spLocks noGrp="1"/>
          </p:cNvSpPr>
          <p:nvPr>
            <p:ph type="sldNum" sz="quarter" idx="15"/>
          </p:nvPr>
        </p:nvSpPr>
        <p:spPr/>
        <p:txBody>
          <a:bodyPr/>
          <a:lstStyle/>
          <a:p>
            <a:fld id="{72545B5C-C241-49B7-B6BA-3336326B0E5F}" type="slidenum">
              <a:rPr lang="ar-EG" smtClean="0"/>
              <a:t>14</a:t>
            </a:fld>
            <a:endParaRPr lang="ar-EG"/>
          </a:p>
        </p:txBody>
      </p:sp>
    </p:spTree>
    <p:extLst>
      <p:ext uri="{BB962C8B-B14F-4D97-AF65-F5344CB8AC3E}">
        <p14:creationId xmlns:p14="http://schemas.microsoft.com/office/powerpoint/2010/main" val="1830614445"/>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lgn="l">
              <a:buNone/>
            </a:pPr>
            <a:r>
              <a:rPr lang="en-US" sz="2800" dirty="0" smtClean="0"/>
              <a:t>This is a more targeted version of the phishing scam whereby an attacker chooses specific individuals or enterprises. They then tailor their messages based on characteristics, job positions, and contacts belonging to their victims to make their attack less conspicuous it requires more effort on behalf of the perpetrator and may take weeks and months to pull off. They’re much harder to detect and have better success rates if done skillfully.</a:t>
            </a:r>
            <a:endParaRPr lang="ar-EG" sz="2800" dirty="0"/>
          </a:p>
        </p:txBody>
      </p:sp>
      <p:sp>
        <p:nvSpPr>
          <p:cNvPr id="2" name="Title 1"/>
          <p:cNvSpPr>
            <a:spLocks noGrp="1"/>
          </p:cNvSpPr>
          <p:nvPr>
            <p:ph type="title"/>
          </p:nvPr>
        </p:nvSpPr>
        <p:spPr/>
        <p:txBody>
          <a:bodyPr>
            <a:noAutofit/>
          </a:bodyPr>
          <a:lstStyle/>
          <a:p>
            <a:pPr algn="ctr"/>
            <a:r>
              <a:rPr lang="en-US" sz="4000" b="1" i="1" dirty="0" smtClean="0"/>
              <a:t>5-Spear </a:t>
            </a:r>
            <a:r>
              <a:rPr lang="en-US" sz="4000" b="1" i="1" dirty="0" smtClean="0"/>
              <a:t>phishing</a:t>
            </a:r>
            <a:br>
              <a:rPr lang="en-US" sz="4000" b="1" i="1" dirty="0" smtClean="0"/>
            </a:br>
            <a:endParaRPr lang="ar-EG" sz="4000" b="1" i="1" dirty="0"/>
          </a:p>
        </p:txBody>
      </p:sp>
      <p:sp>
        <p:nvSpPr>
          <p:cNvPr id="5" name="Slide Number Placeholder 4"/>
          <p:cNvSpPr>
            <a:spLocks noGrp="1"/>
          </p:cNvSpPr>
          <p:nvPr>
            <p:ph type="sldNum" sz="quarter" idx="15"/>
          </p:nvPr>
        </p:nvSpPr>
        <p:spPr/>
        <p:txBody>
          <a:bodyPr/>
          <a:lstStyle/>
          <a:p>
            <a:fld id="{72545B5C-C241-49B7-B6BA-3336326B0E5F}" type="slidenum">
              <a:rPr lang="ar-EG" smtClean="0"/>
              <a:t>15</a:t>
            </a:fld>
            <a:endParaRPr lang="ar-EG"/>
          </a:p>
        </p:txBody>
      </p:sp>
    </p:spTree>
    <p:extLst>
      <p:ext uri="{BB962C8B-B14F-4D97-AF65-F5344CB8AC3E}">
        <p14:creationId xmlns:p14="http://schemas.microsoft.com/office/powerpoint/2010/main" val="1562143809"/>
      </p:ext>
    </p:extLst>
  </p:cSld>
  <p:clrMapOvr>
    <a:masterClrMapping/>
  </p:clrMapOvr>
  <mc:AlternateContent xmlns:mc="http://schemas.openxmlformats.org/markup-compatibility/2006">
    <mc:Choice xmlns:p14="http://schemas.microsoft.com/office/powerpoint/2010/main" Requires="p14">
      <p:transition spd="slow" p14:dur="2000">
        <p14:ferris dir="r"/>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310</TotalTime>
  <Words>544</Words>
  <Application>Microsoft Office PowerPoint</Application>
  <PresentationFormat>On-screen Show (4:3)</PresentationFormat>
  <Paragraphs>64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Paper</vt:lpstr>
      <vt:lpstr>Social engineering</vt:lpstr>
      <vt:lpstr> What is social engineering</vt:lpstr>
      <vt:lpstr>Social engineering lifecycle</vt:lpstr>
      <vt:lpstr>Social engineering has multiple steps</vt:lpstr>
      <vt:lpstr>1-Preparing the ground for the attack </vt:lpstr>
      <vt:lpstr>2-Deceiving the victim to gain foothold</vt:lpstr>
      <vt:lpstr>3-Information Obtaining over a period of time </vt:lpstr>
      <vt:lpstr>4-Closing the interaction without arousing suspicions </vt:lpstr>
      <vt:lpstr>Danger of social engineering</vt:lpstr>
      <vt:lpstr>Social engineering attack techniques</vt:lpstr>
      <vt:lpstr>1-Baiting</vt:lpstr>
      <vt:lpstr>2-Scareware </vt:lpstr>
      <vt:lpstr>3-Pretexting </vt:lpstr>
      <vt:lpstr>4-Phishing </vt:lpstr>
      <vt:lpstr>5-Spear phishing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engineering</dc:title>
  <dc:creator>sss</dc:creator>
  <cp:lastModifiedBy>sss</cp:lastModifiedBy>
  <cp:revision>12</cp:revision>
  <dcterms:created xsi:type="dcterms:W3CDTF">2022-01-06T12:31:28Z</dcterms:created>
  <dcterms:modified xsi:type="dcterms:W3CDTF">2022-01-06T18:10:57Z</dcterms:modified>
</cp:coreProperties>
</file>